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2B3C1"/>
                </a:solidFill>
              </a:defRPr>
            </a:pPr>
            <a:r>
              <a:t>UN SDG 6 ALIGNED ENVIRONMENTAL DECISION SUPPORT</a:t>
            </a:r>
          </a:p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</a:defRPr>
            </a:pPr>
            <a:r>
              <a:t>AquaGuard AI</a:t>
            </a:r>
          </a:p>
          <a:p>
            <a:pPr>
              <a:spcAft>
                <a:spcPts val="2400"/>
              </a:spcAft>
              <a:defRPr sz="2200">
                <a:solidFill>
                  <a:srgbClr val="E4F7FF"/>
                </a:solidFill>
              </a:defRPr>
            </a:pPr>
            <a:r>
              <a:t>AI-Powered Water Quality Screening &amp; Regulatory Decision Support System</a:t>
            </a:r>
          </a:p>
          <a:p>
            <a:pPr>
              <a:defRPr sz="1400">
                <a:solidFill>
                  <a:srgbClr val="A8E3E8"/>
                </a:solidFill>
              </a:defRPr>
            </a:pPr>
            <a:r>
              <a:t>Full-Stack System: Calibrated GBDT Machine Learning • SHAP Explainability • BIS IS 10500 Standards • FastAPI • React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The Critical Problem in Water Quality Surveillance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Laboratory Bottlenecks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Certified drinking water testing takes 3 to 7 days for full chemical and biological turnaround.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Municipal and rural water distribution pipelines face delays in detecting contamination surges.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Testing every single water source in a lab is cost-prohibitive for regional monitoring.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Field Triage Vacuum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Field officers collect multi-parameter probe data but lack automated decision support.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Raw numeric values (e.g., pH 8.9, Turbidity 5.4, TDS 742) require manual table lookups.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High-risk contamination events are often discovered only after public health advisories.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Black-Box AI Trust Deficit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Generic machine learning classifiers output opaque binary labels ('Safe' vs 'Unsafe').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Environmental technicians cannot verify why a model flagged a water sample.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Lack of regulatory standards mapping (e.g., BIS / WHO) prevents legal actionable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The Solution: Dual-Layer Screening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Layer 1: Calibrated ML Screening Engine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Probability-Calibrated GBDT: HistGradientBoosting trained with 5-fold Sigmoid Platt scaling.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3 Standard Screening Bands: 'Lower Concern', 'Inconclusive — lab testing recommended', 'Elevated Concern'.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Explainable AI (SHAP): Computes local marginal feature contributions (+/- effect per chemical).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Tolerates Partial Data: Handles missing fields via median imputation without crashing.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Layer 2: Regulatory Standards Engine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Bureau of Indian Standards (BIS IS 10500): Evaluates acceptable and permissible statutory thresholds.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WHO Guidelines: Benchmarks against international drinking water quality baseline parameters.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Separate Badging: Explicit 'Within range', 'Above range', 'Below range' indicators separate from ML.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Action Guidance: Generates structured next steps (e.g. split-sample laboratory confirmation).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The 9 Analyzed Physicochemical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Core Geochemical Basics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pH (0–14): Acidity vs alkalinity; impacts metal pipe corrosion and disinfection kinetics.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Turbidity (NTU): Optical colloidal cloudiness; shields pathogens from UV/chlorine.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Solids / TDS (mg/L): Total dissolved inorganic minerals; impacts pipe scale and taste.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Disinfection &amp; Distribution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Chloramines (mg/L): Chemical disinfectant residual; prevents biofilm re-growth in pipe networks.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Conductivity (µS/cm): Electrical current conduction proportional to ionic solute surges.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Total Hardness (mg/L): Dissolved polyvalent calcium and magnesium metallic 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Residuals &amp; Byproducts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Organic Carbon / TOC (mg/L): Direct indicator of natural organic matter and chemical runoff.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Sulfate SO4 (mg/L): Naturally occurring mineral anion; high levels cause laxative effects.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Trihalomethanes / THM (µg/L): Halogenated byproducts formed when chlorine reacts with TOC.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Frontend Client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Framework: React 19 + TypeScript (Strict Mode).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Styling: Tailwind CSS v4 design system.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Visuals: Recharts interactive charts + Lucide icons.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Zero LLM SDKs: 100% deterministic &amp; secure client-side interface.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Responsive: Mobile (390px), Tablet (768px), Desktop (1440px).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Backend Service (API)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Engine: Python 3.11+ with FastAPI &amp; Uvicorn.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Validation: Strict Pydantic v2 schemas matching TypeScript types.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Persistence: Session-isolated SQLite database (X-Session-Id header).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Endpoints: /analyze, /analyses, /batch/*, /dashboard, /model-card, /health.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Documentation: Auto-generated OpenAPI /docs.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Machine Learning Engine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Model: Calibrated HistGradientBoostingClassifier.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Calibration: 5-Fold Sigmoid Platt Scaling.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Metrics: ROC-AUC: 0.924, Accuracy: 84.0%.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Explainability: SHAP-aligned feature attribution engine.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Artifacts: Pre-compiled joblib model and JSON metrics manifest.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Explainable AI (SHAP): Eliminating the Black 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Why Explainability Matters in Environmental Health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Decision-makers need to justify *why* a water source requires urgent shutdown or lab confirmation.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Traditional neural networks and deep models do not explain individual prediction factors.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AquaGuard AI implements localized feature attribution to quantify the exact mathematical push of each reading.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Visual Attribution Mechanics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Base Value (0.45): Represents the baseline empirical prior expectation across normative waters.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Elevated Concern Push (Negative/Red): Parameters deviating from norms (e.g. Turbidity +0.14) push score toward Elevated Concern.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Lower Concern Push (Positive/Green): Parameters sitting comfortably within regular baselines (e.g. pH 7.2) stabilize the score.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Dual Modality: Viewable as an interactive visual bar chart or an accessible tabular 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High-Throughput Batch Telemetry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Client-Side Drag &amp; Drop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Interactive dropzone supporting CSV file upload.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Strict client-side validation for: wrong file type, empty files, size &gt; 5 MB, and row counts &gt; 500.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Automatic CSV template download link integrated directly into the dropzone.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3-Step Progressive Pipeline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Step 1 (Ingestion): File parsing and header mapping to the 9 approved parameters.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Step 2 (Validation Review): Flagging malformed rows, out-of-range pH, or negative values before model execution.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Step 3 (Batch Results): Instant simultaneous scoring of all valid samples with triage export.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Field Operations Impact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Environmental officers can process 500 field sensor loggers in under 3 seconds.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Immediate CSV export with calibrated score, risk band, and completeness metrics.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Enables rapid regional surveillance across entire water basins and distribution grids.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Empirical Validation &amp; Model Benchmarking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Benchmark Model Comparison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Logistic Regression: Accuracy 76.0% | ROC-AUC 0.835 | F1 0.705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Random Forest: Accuracy 82.5% | ROC-AUC 0.902 | F1 0.782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Calibrated HistGradientBoosting: Accuracy 84.0% | ROC-AUC 0.924 | F1 0.800 (Production Model)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Probability Calibration: Platt scaling reduces Brier score to 0.095, ensuring probabilities mirror empirical reality.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Model Card Governance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Open Model Card (/model-card): Provides complete transparency on dataset, architecture, and calibration curves.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Confusion Matrix: Balanced sensitivity across elevated and lower concern water samples.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Calibration Curve: Verified alignment between mean predicted probability and observed event frequency.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Transparent Versioning: Model version (v2.4 · Calibrated GBDT) tracked across all screening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Responsible AI &amp; Public Health Safety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Strict Safety Vocabulary Rules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Non-Certifying Principle: The platform systematically refuses to certify water as 'safe' or 'potable'.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Forbidden Result Terms: Words like 'safe', 'pure', 'clean', or 'diagnostic' never appear as system outputs.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Educational Screening Triage: Designed strictly to prioritize physical samples for accredited laboratory assays.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Zero False Confidence: High-risk samples are never given false assurances of drinkability.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Explicit Boundary Disclaimers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Biological Exclusion: Clearly disclaims that bacteria, viruses, and pathogens cannot be detected via physical telemetry.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Heavy Metals Exclusion: Explicitly warns that lead, arsenic, and PFAS require certified laboratory spectrometry.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Persistent Audit Disclaimers: Prominently displayed across footers, intake forms, result cards, and about sections.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Privacy Safeguards: Uses anonymous X-Session-Id tracking; no personal data or location coordinates are sold.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Lean Canvas &amp; Implementation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Value Proposition &amp; Users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Target Segments: Municipal water utilities, rural water missions, environmental NGOs, industrial effluent plants.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Unique Value: 5-second multi-parameter screening with SHAP explainability and BIS/WHO compliance mapping.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Early Adopters: Field testing teams conducting preliminary water surveillance in semi-urban basins.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Channels &amp; Economics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Deployment Channels: B2G public health water monitoring initiatives, open-source community, IoT gateway APIs.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Revenue &amp; Sustainability: Tiered municipal SaaS subscriptions, batch telemetry API licensing, lab referral network.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Cost Drivers: Cloud hosting, continuous sensor data pipeline calibration, regulatory standard updates.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737360"/>
            <a:ext cx="32918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Key Metrics &amp; Unfair Advantage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Key Metrics: Screening turnaround time (&lt; 1 sec), sample completeness % (&gt; 85%), lab prioritization accuracy.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Unfair Advantage: Proprietary dual-layer calibrated scoring engine with transparent regulatory mapping.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Impact: Directly accelerates UN Sustainable Development Goal 6 (Clean Water and Sanitation).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End-to-End Application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4688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1. Intake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Interactive WaterSampleForm.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Instant chemical field validation.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Sample presets for testing.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Completeness ring calculation.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737360"/>
            <a:ext cx="24688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2. Scoring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Calibrated ML engine.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0.00 – 1.00 score dial.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3 standardized risk bands.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Zero latency (&lt; 200ms).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24688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3. Explanation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SHAP feature contributions.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Color-coded parameter push.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BIS IS 10500 standards table.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Action recommendations.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737360"/>
            <a:ext cx="24688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4. Management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Batch CSV upload (500 rows).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Watershed aggregate dashboard.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Historical audit records.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Side-by-side sample comparison.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B3C1"/>
                </a:solidFill>
              </a:defRPr>
            </a:pPr>
            <a:r>
              <a:t>AQUAGUARD AI —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B5A"/>
                </a:solidFill>
              </a:defRPr>
            </a:pPr>
            <a:r>
              <a:t>Summary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What Has Been Achieved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Complete, verified full-stack architecture with 100% build health (0 errors, 0 warnings).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Trained and calibrated GBDT model with ROC-AUC 0.924 and explainable SHAP engine.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FastAPI backend with 10 passing automated unit/integration tests and SQLite persistence.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Single-terminal unified runner for effortless 1-command startup (python run.py).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512064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B5A"/>
                </a:solidFill>
              </a:defRPr>
            </a:pPr>
            <a:r>
              <a:t>Future Development Roadmap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IoT Hardware Integration: Direct telemetry streaming via MQTT / LoRaWAN from remote water sensors.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Geospatial GIS Mapping: Heatmaps visualizing watershed contamination plumes across regional water grids.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Laboratory Network Integration: Direct one-click sample dispatch to state-certified testing laboratories.</a:t>
            </a:r>
          </a:p>
          <a:p>
            <a:pPr>
              <a:spcAft>
                <a:spcPts val="600"/>
              </a:spcAft>
              <a:defRPr sz="1300">
                <a:solidFill>
                  <a:srgbClr val="0F2A33"/>
                </a:solidFill>
              </a:defRPr>
            </a:pPr>
            <a:r>
              <a:t>• Offline Field App (PWA): Progressive Web App capabilities for offline field data caching in remote rural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